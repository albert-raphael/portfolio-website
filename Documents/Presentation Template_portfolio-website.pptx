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7" r:id="rId1"/>
    <p:sldMasterId id="2147483668" r:id="rId2"/>
  </p:sldMasterIdLst>
  <p:notesMasterIdLst>
    <p:notesMasterId r:id="rId12"/>
  </p:notesMasterIdLst>
  <p:sldIdLst>
    <p:sldId id="256" r:id="rId3"/>
    <p:sldId id="257" r:id="rId4"/>
    <p:sldId id="298" r:id="rId5"/>
    <p:sldId id="299" r:id="rId6"/>
    <p:sldId id="300" r:id="rId7"/>
    <p:sldId id="301" r:id="rId8"/>
    <p:sldId id="302" r:id="rId9"/>
    <p:sldId id="303" r:id="rId10"/>
    <p:sldId id="297" r:id="rId11"/>
  </p:sldIdLst>
  <p:sldSz cx="9144000" cy="5143500" type="screen16x9"/>
  <p:notesSz cx="6858000" cy="9144000"/>
  <p:embeddedFontLst>
    <p:embeddedFont>
      <p:font typeface="Assistant" panose="020B0604020202020204" charset="-79"/>
      <p:regular r:id="rId13"/>
      <p:bold r:id="rId14"/>
    </p:embeddedFont>
    <p:embeddedFont>
      <p:font typeface="Proxima Nova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682167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647448be2_1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b647448be2_1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6918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f83f1124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f83f1124d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5937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7412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069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6989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48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2278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927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b647448be2_1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b647448be2_1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8557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311726" y="342910"/>
            <a:ext cx="2560425" cy="520904"/>
            <a:chOff x="311726" y="342910"/>
            <a:chExt cx="2560425" cy="520904"/>
          </a:xfrm>
        </p:grpSpPr>
        <p:sp>
          <p:nvSpPr>
            <p:cNvPr id="17" name="Google Shape;17;p2"/>
            <p:cNvSpPr/>
            <p:nvPr/>
          </p:nvSpPr>
          <p:spPr>
            <a:xfrm>
              <a:off x="311726" y="342910"/>
              <a:ext cx="2560425" cy="520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Google Shape;25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0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noFill/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0" name="Google Shape;100;p15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01" name="Google Shape;101;p15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15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04" name="Google Shape;104;p15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 and body 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66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6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09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noFill/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00" name="Google Shape;400;p6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01" name="Google Shape;401;p6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02" name="Google Shape;402;p6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03" name="Google Shape;403;p6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4" name="Google Shape;404;p6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51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 and body 2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0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07" name="Google Shape;407;p70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08" name="Google Shape;408;p70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09" name="Google Shape;409;p70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10" name="Google Shape;410;p7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70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7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715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 and body 3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15" name="Google Shape;415;p7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16" name="Google Shape;416;p7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17" name="Google Shape;417;p7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18" name="Google Shape;418;p7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7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0" name="Google Shape;420;p7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7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72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4" name="Google Shape;424;p72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5" name="Google Shape;425;p7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19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73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9" name="Google Shape;429;p7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  <p:sp>
        <p:nvSpPr>
          <p:cNvPr id="430" name="Google Shape;430;p73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1" name="Google Shape;431;p73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056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7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22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7" name="Google Shape;437;p75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8" name="Google Shape;438;p7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459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1" name="Google Shape;441;p7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129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Thanks and contact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  <p:grpSp>
        <p:nvGrpSpPr>
          <p:cNvPr id="444" name="Google Shape;444;p77"/>
          <p:cNvGrpSpPr/>
          <p:nvPr/>
        </p:nvGrpSpPr>
        <p:grpSpPr>
          <a:xfrm rot="2700000">
            <a:off x="585684" y="481416"/>
            <a:ext cx="694882" cy="564848"/>
            <a:chOff x="919500" y="1916075"/>
            <a:chExt cx="1067700" cy="867900"/>
          </a:xfrm>
        </p:grpSpPr>
        <p:sp>
          <p:nvSpPr>
            <p:cNvPr id="445" name="Google Shape;445;p77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446" name="Google Shape;446;p77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</p:grpSp>
      <p:grpSp>
        <p:nvGrpSpPr>
          <p:cNvPr id="447" name="Google Shape;447;p77"/>
          <p:cNvGrpSpPr/>
          <p:nvPr/>
        </p:nvGrpSpPr>
        <p:grpSpPr>
          <a:xfrm rot="8100000">
            <a:off x="7746889" y="3437647"/>
            <a:ext cx="912919" cy="742084"/>
            <a:chOff x="521400" y="3135325"/>
            <a:chExt cx="1067700" cy="867900"/>
          </a:xfrm>
        </p:grpSpPr>
        <p:sp>
          <p:nvSpPr>
            <p:cNvPr id="448" name="Google Shape;448;p77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449" name="Google Shape;449;p77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</p:grpSp>
      <p:sp>
        <p:nvSpPr>
          <p:cNvPr id="450" name="Google Shape;450;p77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6388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3" name="Google Shape;453;p78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454" name="Google Shape;454;p78"/>
          <p:cNvSpPr txBox="1">
            <a:spLocks noGrp="1"/>
          </p:cNvSpPr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5" name="Google Shape;455;p78"/>
          <p:cNvSpPr txBox="1">
            <a:spLocks noGrp="1"/>
          </p:cNvSpPr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7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754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9"/>
          <p:cNvSpPr txBox="1">
            <a:spLocks noGrp="1"/>
          </p:cNvSpPr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>
            <a:endParaRPr/>
          </a:p>
        </p:txBody>
      </p:sp>
      <p:sp>
        <p:nvSpPr>
          <p:cNvPr id="459" name="Google Shape;459;p7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378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0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2" name="Google Shape;462;p80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3" name="Google Shape;463;p8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126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 number 2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1"/>
          <p:cNvSpPr txBox="1">
            <a:spLocks noGrp="1"/>
          </p:cNvSpPr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466" name="Google Shape;466;p81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7" name="Google Shape;467;p8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  <p:sp>
        <p:nvSpPr>
          <p:cNvPr id="468" name="Google Shape;468;p81"/>
          <p:cNvSpPr txBox="1">
            <a:spLocks noGrp="1"/>
          </p:cNvSpPr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469" name="Google Shape;469;p81"/>
          <p:cNvSpPr txBox="1">
            <a:spLocks noGrp="1"/>
          </p:cNvSpPr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0" name="Google Shape;470;p81"/>
          <p:cNvSpPr txBox="1">
            <a:spLocks noGrp="1"/>
          </p:cNvSpPr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471" name="Google Shape;471;p81"/>
          <p:cNvSpPr txBox="1">
            <a:spLocks noGrp="1"/>
          </p:cNvSpPr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5668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75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5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6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63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352" name="Google Shape;352;p6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fld id="{00000000-1234-1234-1234-123412341234}" type="slidenum">
              <a:rPr lang="en">
                <a:solidFill>
                  <a:srgbClr val="5D5D5D"/>
                </a:solidFill>
              </a:rPr>
              <a:pPr/>
              <a:t>‹#›</a:t>
            </a:fld>
            <a:endParaRPr>
              <a:solidFill>
                <a:srgbClr val="5D5D5D"/>
              </a:solidFill>
            </a:endParaRPr>
          </a:p>
        </p:txBody>
      </p:sp>
      <p:grpSp>
        <p:nvGrpSpPr>
          <p:cNvPr id="353" name="Google Shape;353;p63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354" name="Google Shape;354;p63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pic>
          <p:nvPicPr>
            <p:cNvPr id="355" name="Google Shape;355;p63"/>
            <p:cNvPicPr preferRelativeResize="0"/>
            <p:nvPr/>
          </p:nvPicPr>
          <p:blipFill rotWithShape="1">
            <a:blip r:embed="rId17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737014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lbert-raphael.github.io/portfolio-website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6600" dirty="0">
                <a:solidFill>
                  <a:srgbClr val="58ADC5"/>
                </a:solidFill>
              </a:rPr>
              <a:t/>
            </a:r>
            <a:br>
              <a:rPr lang="en-US" sz="6600" dirty="0">
                <a:solidFill>
                  <a:srgbClr val="58ADC5"/>
                </a:solidFill>
              </a:rPr>
            </a:br>
            <a:r>
              <a:rPr lang="en-US" sz="5400" dirty="0">
                <a:solidFill>
                  <a:srgbClr val="58ADC5"/>
                </a:solidFill>
              </a:rPr>
              <a:t>Internal Demo Day: </a:t>
            </a:r>
            <a:r>
              <a:rPr lang="en-US" sz="5400" dirty="0" smtClean="0">
                <a:solidFill>
                  <a:srgbClr val="58ADC5"/>
                </a:solidFill>
              </a:rPr>
              <a:t>HTML/CSS</a:t>
            </a:r>
            <a:endParaRPr lang="en-US" sz="6600" dirty="0">
              <a:solidFill>
                <a:srgbClr val="58ADC5"/>
              </a:solidFill>
            </a:endParaRPr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1"/>
          </p:nvPr>
        </p:nvSpPr>
        <p:spPr>
          <a:xfrm>
            <a:off x="358872" y="3196779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/>
            <a:r>
              <a:rPr lang="en-US" sz="5000" b="1" dirty="0" smtClean="0">
                <a:solidFill>
                  <a:srgbClr val="EA5B25"/>
                </a:solidFill>
              </a:rPr>
              <a:t>Winter </a:t>
            </a:r>
            <a:r>
              <a:rPr lang="en-US" sz="5000" b="1" dirty="0">
                <a:solidFill>
                  <a:srgbClr val="EA5B25"/>
                </a:solidFill>
              </a:rPr>
              <a:t>2025</a:t>
            </a:r>
          </a:p>
          <a:p>
            <a:pPr marL="0" lvl="0" indent="0"/>
            <a:r>
              <a:rPr lang="en-US" dirty="0">
                <a:solidFill>
                  <a:srgbClr val="F08C66"/>
                </a:solidFill>
              </a:rPr>
              <a:t>DCP Hamburg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128863" y="494436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PORTFOLIO </a:t>
            </a:r>
            <a:r>
              <a:rPr lang="en-US" dirty="0"/>
              <a:t>WEBSITE PROJECT</a:t>
            </a:r>
          </a:p>
        </p:txBody>
      </p:sp>
      <p:sp>
        <p:nvSpPr>
          <p:cNvPr id="141" name="Google Shape;141;p2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53583" y="1926720"/>
            <a:ext cx="60485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000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By </a:t>
            </a:r>
            <a:br>
              <a:rPr lang="en-GB" sz="3000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</a:br>
            <a:r>
              <a:rPr lang="en-GB" sz="3000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Assimagbe Albert </a:t>
            </a:r>
            <a:r>
              <a:rPr lang="en-GB" sz="3000" dirty="0" smtClean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Raphael</a:t>
            </a:r>
            <a:r>
              <a:rPr lang="en-GB" sz="3000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/>
            </a:r>
            <a:br>
              <a:rPr lang="en-GB" sz="3000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</a:br>
            <a:r>
              <a:rPr lang="en-GB" sz="3000" dirty="0" smtClean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HTML </a:t>
            </a:r>
            <a:r>
              <a:rPr lang="en-GB" sz="3000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&amp; CSS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259414" y="48693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>
              <a:buSzPct val="100000"/>
            </a:pPr>
            <a:fld id="{00000000-1234-1234-1234-123412341234}" type="slidenum">
              <a:rPr lang="en" smtClean="0">
                <a:solidFill>
                  <a:srgbClr val="5D5D5D"/>
                </a:solidFill>
              </a:rPr>
              <a:pPr>
                <a:buSzPct val="100000"/>
              </a:pPr>
              <a:t>3</a:t>
            </a:fld>
            <a:r>
              <a:rPr lang="en" dirty="0" smtClean="0">
                <a:solidFill>
                  <a:srgbClr val="5D5D5D"/>
                </a:solidFill>
              </a:rPr>
              <a:t>-16</a:t>
            </a:r>
            <a:endParaRPr dirty="0">
              <a:solidFill>
                <a:srgbClr val="5D5D5D"/>
              </a:solidFill>
            </a:endParaRPr>
          </a:p>
        </p:txBody>
      </p:sp>
      <p:sp>
        <p:nvSpPr>
          <p:cNvPr id="982" name="Google Shape;982;p154"/>
          <p:cNvSpPr txBox="1"/>
          <p:nvPr/>
        </p:nvSpPr>
        <p:spPr>
          <a:xfrm>
            <a:off x="311700" y="342900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algn="ctr">
              <a:buSzPts val="2900"/>
            </a:pPr>
            <a:r>
              <a:rPr lang="en" sz="29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Introduction</a:t>
            </a:r>
            <a:endParaRPr sz="2900" b="1" dirty="0">
              <a:solidFill>
                <a:srgbClr val="58ADC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3" name="Google Shape;983;p154"/>
          <p:cNvSpPr txBox="1"/>
          <p:nvPr/>
        </p:nvSpPr>
        <p:spPr>
          <a:xfrm>
            <a:off x="311700" y="996225"/>
            <a:ext cx="80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SzPts val="1200"/>
            </a:pPr>
            <a:r>
              <a:rPr lang="en-GB" sz="1600" dirty="0">
                <a:latin typeface="Assistant"/>
                <a:ea typeface="Assistant"/>
                <a:cs typeface="Assistant"/>
                <a:sym typeface="Assistant"/>
              </a:rPr>
              <a:t>A clean, responsive portfolio website built with pure HTML and CSS to showcase data analysis projects and professional information.</a:t>
            </a:r>
          </a:p>
        </p:txBody>
      </p:sp>
      <p:sp>
        <p:nvSpPr>
          <p:cNvPr id="985" name="Google Shape;985;p154"/>
          <p:cNvSpPr txBox="1"/>
          <p:nvPr/>
        </p:nvSpPr>
        <p:spPr>
          <a:xfrm>
            <a:off x="242757" y="1608223"/>
            <a:ext cx="3752300" cy="2299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>
              <a:lnSpc>
                <a:spcPct val="115000"/>
              </a:lnSpc>
              <a:buSzPts val="1200"/>
            </a:pPr>
            <a:r>
              <a:rPr lang="en-US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Project </a:t>
            </a:r>
            <a:r>
              <a:rPr lang="en-US" b="1" dirty="0" smtClean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Objectives</a:t>
            </a:r>
            <a:endParaRPr lang="en-US" dirty="0" smtClean="0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38150" indent="-285750">
              <a:lnSpc>
                <a:spcPct val="115000"/>
              </a:lnSpc>
              <a:buSzPts val="1200"/>
              <a:buFont typeface="Wingdings" panose="05000000000000000000" pitchFamily="2" charset="2"/>
              <a:buChar char="ü"/>
            </a:pPr>
            <a:r>
              <a:rPr lang="en-US" dirty="0" smtClean="0">
                <a:latin typeface="Assistant"/>
                <a:ea typeface="Assistant"/>
                <a:cs typeface="Assistant"/>
                <a:sym typeface="Assistant"/>
              </a:rPr>
              <a:t>Build </a:t>
            </a:r>
            <a:r>
              <a:rPr lang="en-US" dirty="0">
                <a:latin typeface="Assistant"/>
                <a:ea typeface="Assistant"/>
                <a:cs typeface="Assistant"/>
                <a:sym typeface="Assistant"/>
              </a:rPr>
              <a:t>a working website using only HTML &amp; CSS</a:t>
            </a:r>
          </a:p>
          <a:p>
            <a:pPr marL="438150" indent="-285750">
              <a:lnSpc>
                <a:spcPct val="115000"/>
              </a:lnSpc>
              <a:buSzPts val="1200"/>
              <a:buFont typeface="Wingdings" panose="05000000000000000000" pitchFamily="2" charset="2"/>
              <a:buChar char="ü"/>
            </a:pPr>
            <a:r>
              <a:rPr lang="en-US" dirty="0" smtClean="0">
                <a:latin typeface="Assistant"/>
                <a:ea typeface="Assistant"/>
                <a:cs typeface="Assistant"/>
                <a:sym typeface="Assistant"/>
              </a:rPr>
              <a:t>Create </a:t>
            </a:r>
            <a:r>
              <a:rPr lang="en-US" dirty="0">
                <a:latin typeface="Assistant"/>
                <a:ea typeface="Assistant"/>
                <a:cs typeface="Assistant"/>
                <a:sym typeface="Assistant"/>
              </a:rPr>
              <a:t>responsive design for all devices</a:t>
            </a:r>
          </a:p>
          <a:p>
            <a:pPr marL="438150" indent="-285750">
              <a:lnSpc>
                <a:spcPct val="115000"/>
              </a:lnSpc>
              <a:buSzPts val="1200"/>
              <a:buFont typeface="Wingdings" panose="05000000000000000000" pitchFamily="2" charset="2"/>
              <a:buChar char="ü"/>
            </a:pPr>
            <a:r>
              <a:rPr lang="en-US" dirty="0" smtClean="0">
                <a:latin typeface="Assistant"/>
                <a:ea typeface="Assistant"/>
                <a:cs typeface="Assistant"/>
                <a:sym typeface="Assistant"/>
              </a:rPr>
              <a:t>Showcase </a:t>
            </a:r>
            <a:r>
              <a:rPr lang="en-US" dirty="0">
                <a:latin typeface="Assistant"/>
                <a:ea typeface="Assistant"/>
                <a:cs typeface="Assistant"/>
                <a:sym typeface="Assistant"/>
              </a:rPr>
              <a:t>professional portfolio</a:t>
            </a:r>
          </a:p>
          <a:p>
            <a:pPr marL="438150" indent="-285750">
              <a:lnSpc>
                <a:spcPct val="115000"/>
              </a:lnSpc>
              <a:buSzPts val="1200"/>
              <a:buFont typeface="Wingdings" panose="05000000000000000000" pitchFamily="2" charset="2"/>
              <a:buChar char="ü"/>
            </a:pPr>
            <a:r>
              <a:rPr lang="en-US" dirty="0" smtClean="0">
                <a:latin typeface="Assistant"/>
                <a:ea typeface="Assistant"/>
                <a:cs typeface="Assistant"/>
                <a:sym typeface="Assistant"/>
              </a:rPr>
              <a:t>Demonstrate </a:t>
            </a:r>
            <a:r>
              <a:rPr lang="en-US" dirty="0">
                <a:latin typeface="Assistant"/>
                <a:ea typeface="Assistant"/>
                <a:cs typeface="Assistant"/>
                <a:sym typeface="Assistant"/>
              </a:rPr>
              <a:t>web development fundamentals</a:t>
            </a:r>
          </a:p>
          <a:p>
            <a:pPr marL="438150" indent="-285750">
              <a:lnSpc>
                <a:spcPct val="115000"/>
              </a:lnSpc>
              <a:buSzPts val="1200"/>
              <a:buFont typeface="Wingdings" panose="05000000000000000000" pitchFamily="2" charset="2"/>
              <a:buChar char="ü"/>
            </a:pPr>
            <a:r>
              <a:rPr lang="en-US" dirty="0" smtClean="0">
                <a:latin typeface="Assistant"/>
                <a:ea typeface="Assistant"/>
                <a:cs typeface="Assistant"/>
                <a:sym typeface="Assistant"/>
              </a:rPr>
              <a:t>Provide </a:t>
            </a:r>
            <a:r>
              <a:rPr lang="en-US" dirty="0">
                <a:latin typeface="Assistant"/>
                <a:ea typeface="Assistant"/>
                <a:cs typeface="Assistant"/>
                <a:sym typeface="Assistant"/>
              </a:rPr>
              <a:t>live demo of working website</a:t>
            </a:r>
            <a:endParaRPr dirty="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09181" y="1716330"/>
            <a:ext cx="20922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58ADC5"/>
                </a:solidFill>
              </a:rPr>
              <a:t>The Website Headings</a:t>
            </a:r>
            <a:endParaRPr lang="en-US" b="1" dirty="0">
              <a:solidFill>
                <a:srgbClr val="58ADC5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0240" y="3907970"/>
            <a:ext cx="302158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ADC5"/>
                </a:solidFill>
              </a:rPr>
              <a:t>Technology </a:t>
            </a:r>
            <a:r>
              <a:rPr lang="en-US" b="1" dirty="0" smtClean="0">
                <a:solidFill>
                  <a:srgbClr val="58ADC5"/>
                </a:solidFill>
              </a:rPr>
              <a:t>Stack</a:t>
            </a:r>
            <a:endParaRPr lang="en-GB" dirty="0" smtClean="0">
              <a:latin typeface="Assistant" panose="020B0604020202020204" charset="-79"/>
              <a:cs typeface="Assistant" panose="020B0604020202020204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>
                <a:latin typeface="Assistant" panose="020B0604020202020204" charset="-79"/>
                <a:cs typeface="Assistant" panose="020B0604020202020204" charset="-79"/>
              </a:rPr>
              <a:t>HTML5 </a:t>
            </a:r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- Structure and content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>
                <a:latin typeface="Assistant" panose="020B0604020202020204" charset="-79"/>
                <a:cs typeface="Assistant" panose="020B0604020202020204" charset="-79"/>
              </a:rPr>
              <a:t>CSS3 </a:t>
            </a:r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- Styling and </a:t>
            </a:r>
            <a:r>
              <a:rPr lang="en-GB" dirty="0" smtClean="0">
                <a:latin typeface="Assistant" panose="020B0604020202020204" charset="-79"/>
                <a:cs typeface="Assistant" panose="020B0604020202020204" charset="-79"/>
              </a:rPr>
              <a:t>layout</a:t>
            </a:r>
            <a:endParaRPr lang="en-GB" dirty="0">
              <a:latin typeface="Assistant" panose="020B0604020202020204" charset="-79"/>
              <a:cs typeface="Assistant" panose="020B0604020202020204" charset="-79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454" y="2042641"/>
            <a:ext cx="3189803" cy="25443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79396" y="4605476"/>
            <a:ext cx="3728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  <a:hlinkClick r:id="rId4"/>
              </a:rPr>
              <a:t>Website </a:t>
            </a:r>
            <a:r>
              <a:rPr lang="en-US" sz="1000" b="1" dirty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  <a:hlinkClick r:id="rId4"/>
              </a:rPr>
              <a:t>URL: </a:t>
            </a:r>
            <a:r>
              <a:rPr lang="en-US" sz="1000" dirty="0">
                <a:latin typeface="Assistant" panose="020B0604020202020204" charset="-79"/>
                <a:cs typeface="Assistant" panose="020B0604020202020204" charset="-79"/>
                <a:hlinkClick r:id="rId4"/>
              </a:rPr>
              <a:t>https://albert-raphael.github.io/portfolio-website/ </a:t>
            </a:r>
            <a:endParaRPr lang="en-US" sz="1000" dirty="0">
              <a:latin typeface="Assistant" panose="020B0604020202020204" charset="-79"/>
              <a:cs typeface="Assistant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9244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259414" y="48693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>
              <a:buSzPct val="100000"/>
            </a:pPr>
            <a:fld id="{00000000-1234-1234-1234-123412341234}" type="slidenum">
              <a:rPr lang="en" smtClean="0">
                <a:solidFill>
                  <a:srgbClr val="5D5D5D"/>
                </a:solidFill>
              </a:rPr>
              <a:pPr>
                <a:buSzPct val="100000"/>
              </a:pPr>
              <a:t>4</a:t>
            </a:fld>
            <a:r>
              <a:rPr lang="en" dirty="0" smtClean="0">
                <a:solidFill>
                  <a:srgbClr val="5D5D5D"/>
                </a:solidFill>
              </a:rPr>
              <a:t>-16</a:t>
            </a:r>
            <a:endParaRPr dirty="0">
              <a:solidFill>
                <a:srgbClr val="5D5D5D"/>
              </a:solidFill>
            </a:endParaRPr>
          </a:p>
        </p:txBody>
      </p:sp>
      <p:sp>
        <p:nvSpPr>
          <p:cNvPr id="982" name="Google Shape;982;p154"/>
          <p:cNvSpPr txBox="1"/>
          <p:nvPr/>
        </p:nvSpPr>
        <p:spPr>
          <a:xfrm>
            <a:off x="311700" y="155523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algn="ctr">
              <a:buSzPts val="2900"/>
            </a:pPr>
            <a:r>
              <a:rPr lang="en-US" sz="29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HTML Structure</a:t>
            </a:r>
            <a:endParaRPr sz="2900" b="1" dirty="0">
              <a:solidFill>
                <a:srgbClr val="58ADC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3291" y="742295"/>
            <a:ext cx="269382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HTML </a:t>
            </a:r>
            <a:r>
              <a:rPr lang="en-GB" sz="18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Architecture</a:t>
            </a:r>
            <a:endParaRPr lang="en-GB" sz="1800" dirty="0">
              <a:latin typeface="Assistant" panose="020B0604020202020204" charset="-79"/>
              <a:cs typeface="Assistant" panose="020B0604020202020204" charset="-79"/>
            </a:endParaRPr>
          </a:p>
          <a:p>
            <a:r>
              <a:rPr lang="en-GB" dirty="0" smtClean="0">
                <a:latin typeface="Assistant" panose="020B0604020202020204" charset="-79"/>
                <a:cs typeface="Assistant" panose="020B0604020202020204" charset="-79"/>
              </a:rPr>
              <a:t>&lt;!</a:t>
            </a:r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DOCTYPE html&gt;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&lt;html&gt;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&lt;head&gt;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&lt;title&gt;...&lt;/title&gt;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&lt;meta&gt; tags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&lt;link&gt; to CSS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&lt;/head&gt;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&lt;body&gt;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&lt;header&gt;Navigation&lt;/header&gt;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&lt;main&gt;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  &lt;section&gt;Hero&lt;/section&gt;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  &lt;section&gt;About&lt;/section&gt;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  &lt;section&gt;Projects&lt;/section&gt;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  &lt;section&gt;Contact&lt;/section&gt;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&lt;/main&gt;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  &lt;footer&gt;Copyright&lt;/footer&gt;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  &lt;/body&gt;</a:t>
            </a:r>
          </a:p>
          <a:p>
            <a:r>
              <a:rPr lang="en-GB" dirty="0">
                <a:latin typeface="Assistant" panose="020B0604020202020204" charset="-79"/>
                <a:cs typeface="Assistant" panose="020B0604020202020204" charset="-79"/>
              </a:rPr>
              <a:t>&lt;/html&gt;</a:t>
            </a:r>
            <a:endParaRPr lang="en-US" dirty="0">
              <a:latin typeface="Assistant" panose="020B0604020202020204" charset="-79"/>
              <a:cs typeface="Assistant" panose="020B060402020202020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903" y="728505"/>
            <a:ext cx="258889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Key </a:t>
            </a:r>
            <a:r>
              <a:rPr lang="en-GB" sz="18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Features</a:t>
            </a:r>
            <a:endParaRPr lang="en-GB" sz="1800" dirty="0">
              <a:solidFill>
                <a:schemeClr val="accent1"/>
              </a:solidFill>
              <a:latin typeface="Assistant" panose="020B0604020202020204" charset="-79"/>
              <a:cs typeface="Assistant" panose="020B0604020202020204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 smtClean="0">
                <a:latin typeface="Assistant" panose="020B0604020202020204" charset="-79"/>
                <a:cs typeface="Assistant" panose="020B0604020202020204" charset="-79"/>
              </a:rPr>
              <a:t>Semantic </a:t>
            </a:r>
            <a:r>
              <a:rPr lang="en-GB" sz="1600" dirty="0">
                <a:latin typeface="Assistant" panose="020B0604020202020204" charset="-79"/>
                <a:cs typeface="Assistant" panose="020B0604020202020204" charset="-79"/>
              </a:rPr>
              <a:t>HTML5 elements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 smtClean="0">
                <a:latin typeface="Assistant" panose="020B0604020202020204" charset="-79"/>
                <a:cs typeface="Assistant" panose="020B0604020202020204" charset="-79"/>
              </a:rPr>
              <a:t>Proper </a:t>
            </a:r>
            <a:r>
              <a:rPr lang="en-GB" sz="1600" dirty="0">
                <a:latin typeface="Assistant" panose="020B0604020202020204" charset="-79"/>
                <a:cs typeface="Assistant" panose="020B0604020202020204" charset="-79"/>
              </a:rPr>
              <a:t>document structure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 smtClean="0">
                <a:latin typeface="Assistant" panose="020B0604020202020204" charset="-79"/>
                <a:cs typeface="Assistant" panose="020B0604020202020204" charset="-79"/>
              </a:rPr>
              <a:t>Accessibility </a:t>
            </a:r>
            <a:r>
              <a:rPr lang="en-GB" sz="1600" dirty="0">
                <a:latin typeface="Assistant" panose="020B0604020202020204" charset="-79"/>
                <a:cs typeface="Assistant" panose="020B0604020202020204" charset="-79"/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 smtClean="0">
                <a:latin typeface="Assistant" panose="020B0604020202020204" charset="-79"/>
                <a:cs typeface="Assistant" panose="020B0604020202020204" charset="-79"/>
              </a:rPr>
              <a:t>SEO-friendly mark-up</a:t>
            </a:r>
            <a:endParaRPr lang="en-US" sz="1600" dirty="0">
              <a:latin typeface="Assistant" panose="020B0604020202020204" charset="-79"/>
              <a:cs typeface="Assistant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1692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259414" y="48693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>
              <a:buSzPct val="100000"/>
            </a:pPr>
            <a:fld id="{00000000-1234-1234-1234-123412341234}" type="slidenum">
              <a:rPr lang="en" smtClean="0">
                <a:solidFill>
                  <a:srgbClr val="5D5D5D"/>
                </a:solidFill>
              </a:rPr>
              <a:pPr>
                <a:buSzPct val="100000"/>
              </a:pPr>
              <a:t>5</a:t>
            </a:fld>
            <a:r>
              <a:rPr lang="en" dirty="0" smtClean="0">
                <a:solidFill>
                  <a:srgbClr val="5D5D5D"/>
                </a:solidFill>
              </a:rPr>
              <a:t>-16</a:t>
            </a:r>
            <a:endParaRPr dirty="0">
              <a:solidFill>
                <a:srgbClr val="5D5D5D"/>
              </a:solidFill>
            </a:endParaRPr>
          </a:p>
        </p:txBody>
      </p:sp>
      <p:sp>
        <p:nvSpPr>
          <p:cNvPr id="982" name="Google Shape;982;p154"/>
          <p:cNvSpPr txBox="1"/>
          <p:nvPr/>
        </p:nvSpPr>
        <p:spPr>
          <a:xfrm>
            <a:off x="311700" y="155523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algn="ctr">
              <a:buSzPts val="2900"/>
            </a:pPr>
            <a:r>
              <a:rPr lang="en-US" sz="29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CSS Implementation</a:t>
            </a:r>
            <a:endParaRPr sz="2900" b="1" dirty="0">
              <a:solidFill>
                <a:srgbClr val="58ADC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1700" y="1027605"/>
            <a:ext cx="440270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Layout </a:t>
            </a:r>
            <a:r>
              <a:rPr lang="en-US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Techniques</a:t>
            </a:r>
            <a:endParaRPr lang="en-US" sz="2000" dirty="0">
              <a:latin typeface="Assistant" panose="020B0604020202020204" charset="-79"/>
              <a:cs typeface="Assistant" panose="020B0604020202020204" charset="-79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ssistant" panose="020B0604020202020204" charset="-79"/>
                <a:cs typeface="Assistant" panose="020B0604020202020204" charset="-79"/>
              </a:rPr>
              <a:t>Flexbox </a:t>
            </a:r>
            <a:r>
              <a:rPr lang="en-US" sz="2000" dirty="0">
                <a:latin typeface="Assistant" panose="020B0604020202020204" charset="-79"/>
                <a:cs typeface="Assistant" panose="020B0604020202020204" charset="-79"/>
              </a:rPr>
              <a:t>- One-dimensional layouts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ssistant" panose="020B0604020202020204" charset="-79"/>
                <a:cs typeface="Assistant" panose="020B0604020202020204" charset="-79"/>
              </a:rPr>
              <a:t>CSS </a:t>
            </a:r>
            <a:r>
              <a:rPr lang="en-US" sz="2000" dirty="0">
                <a:latin typeface="Assistant" panose="020B0604020202020204" charset="-79"/>
                <a:cs typeface="Assistant" panose="020B0604020202020204" charset="-79"/>
              </a:rPr>
              <a:t>Grid - Two-dimensional layouts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ssistant" panose="020B0604020202020204" charset="-79"/>
                <a:cs typeface="Assistant" panose="020B0604020202020204" charset="-79"/>
              </a:rPr>
              <a:t>Media </a:t>
            </a:r>
            <a:r>
              <a:rPr lang="en-US" sz="2000" dirty="0">
                <a:latin typeface="Assistant" panose="020B0604020202020204" charset="-79"/>
                <a:cs typeface="Assistant" panose="020B0604020202020204" charset="-79"/>
              </a:rPr>
              <a:t>Queries - Responsive design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ssistant" panose="020B0604020202020204" charset="-79"/>
                <a:cs typeface="Assistant" panose="020B0604020202020204" charset="-79"/>
              </a:rPr>
              <a:t>Positioning </a:t>
            </a:r>
            <a:r>
              <a:rPr lang="en-US" sz="2000" dirty="0">
                <a:latin typeface="Assistant" panose="020B0604020202020204" charset="-79"/>
                <a:cs typeface="Assistant" panose="020B0604020202020204" charset="-79"/>
              </a:rPr>
              <a:t>- Fixed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9004" y="1027605"/>
            <a:ext cx="286295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Design </a:t>
            </a:r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Principles</a:t>
            </a:r>
            <a:endParaRPr lang="en-GB" sz="2000" dirty="0">
              <a:latin typeface="Assistant" panose="020B0604020202020204" charset="-79"/>
              <a:cs typeface="Assistant" panose="020B0604020202020204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Mobile-first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approach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Consistent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spacing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Colour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hierarchy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Typography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scale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Hover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interactions</a:t>
            </a:r>
            <a:endParaRPr lang="en-US" sz="2000" dirty="0">
              <a:latin typeface="Assistant" panose="020B0604020202020204" charset="-79"/>
              <a:cs typeface="Assistant" panose="020B060402020202020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13053" y="2966597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Responsive </a:t>
            </a:r>
            <a:r>
              <a:rPr lang="en-US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Breakpoints</a:t>
            </a:r>
            <a:endParaRPr lang="en-US" sz="2000" dirty="0">
              <a:latin typeface="Assistant" panose="020B0604020202020204" charset="-79"/>
              <a:cs typeface="Assistant" panose="020B0604020202020204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ssistant" panose="020B0604020202020204" charset="-79"/>
                <a:cs typeface="Assistant" panose="020B0604020202020204" charset="-79"/>
              </a:rPr>
              <a:t>Mobile</a:t>
            </a:r>
            <a:r>
              <a:rPr lang="en-US" sz="2000" dirty="0">
                <a:latin typeface="Assistant" panose="020B0604020202020204" charset="-79"/>
                <a:cs typeface="Assistant" panose="020B0604020202020204" charset="-79"/>
              </a:rPr>
              <a:t>: &lt; 768px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ssistant" panose="020B0604020202020204" charset="-79"/>
                <a:cs typeface="Assistant" panose="020B0604020202020204" charset="-79"/>
              </a:rPr>
              <a:t>Tablet</a:t>
            </a:r>
            <a:r>
              <a:rPr lang="en-US" sz="2000" dirty="0">
                <a:latin typeface="Assistant" panose="020B0604020202020204" charset="-79"/>
                <a:cs typeface="Assistant" panose="020B0604020202020204" charset="-79"/>
              </a:rPr>
              <a:t>: 768px - 1024px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ssistant" panose="020B0604020202020204" charset="-79"/>
                <a:cs typeface="Assistant" panose="020B0604020202020204" charset="-79"/>
              </a:rPr>
              <a:t>Desktop</a:t>
            </a:r>
            <a:r>
              <a:rPr lang="en-US" sz="2000" dirty="0">
                <a:latin typeface="Assistant" panose="020B0604020202020204" charset="-79"/>
                <a:cs typeface="Assistant" panose="020B0604020202020204" charset="-79"/>
              </a:rPr>
              <a:t>: &gt; 1024px</a:t>
            </a:r>
          </a:p>
        </p:txBody>
      </p:sp>
    </p:spTree>
    <p:extLst>
      <p:ext uri="{BB962C8B-B14F-4D97-AF65-F5344CB8AC3E}">
        <p14:creationId xmlns:p14="http://schemas.microsoft.com/office/powerpoint/2010/main" val="398439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259414" y="48693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>
              <a:buSzPct val="100000"/>
            </a:pPr>
            <a:fld id="{00000000-1234-1234-1234-123412341234}" type="slidenum">
              <a:rPr lang="en" smtClean="0">
                <a:solidFill>
                  <a:srgbClr val="5D5D5D"/>
                </a:solidFill>
              </a:rPr>
              <a:pPr>
                <a:buSzPct val="100000"/>
              </a:pPr>
              <a:t>6</a:t>
            </a:fld>
            <a:r>
              <a:rPr lang="en" dirty="0" smtClean="0">
                <a:solidFill>
                  <a:srgbClr val="5D5D5D"/>
                </a:solidFill>
              </a:rPr>
              <a:t>-16</a:t>
            </a:r>
            <a:endParaRPr dirty="0">
              <a:solidFill>
                <a:srgbClr val="5D5D5D"/>
              </a:solidFill>
            </a:endParaRPr>
          </a:p>
        </p:txBody>
      </p:sp>
      <p:sp>
        <p:nvSpPr>
          <p:cNvPr id="982" name="Google Shape;982;p154"/>
          <p:cNvSpPr txBox="1"/>
          <p:nvPr/>
        </p:nvSpPr>
        <p:spPr>
          <a:xfrm>
            <a:off x="311700" y="155523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algn="ctr">
              <a:buSzPts val="2900"/>
            </a:pPr>
            <a:r>
              <a:rPr lang="en-US" sz="29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Project Sections Breakdown</a:t>
            </a:r>
            <a:endParaRPr sz="2900" b="1" dirty="0">
              <a:solidFill>
                <a:srgbClr val="58ADC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1700" y="775872"/>
            <a:ext cx="364707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Hero </a:t>
            </a:r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Section</a:t>
            </a:r>
            <a:endParaRPr lang="en-GB" sz="2000" dirty="0">
              <a:latin typeface="Assistant" panose="020B0604020202020204" charset="-79"/>
              <a:cs typeface="Assistant" panose="020B0604020202020204" charset="-79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 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Professional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header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 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Introduction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text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 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Call-to-action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buttons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 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Profile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image</a:t>
            </a:r>
          </a:p>
          <a:p>
            <a:endParaRPr lang="en-GB" sz="2000" dirty="0" smtClean="0">
              <a:latin typeface="Assistant" panose="020B0604020202020204" charset="-79"/>
              <a:cs typeface="Assistant" panose="020B0604020202020204" charset="-79"/>
            </a:endParaRPr>
          </a:p>
          <a:p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About </a:t>
            </a:r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Section</a:t>
            </a:r>
            <a:endParaRPr lang="en-GB" sz="2000" dirty="0">
              <a:latin typeface="Assistant" panose="020B0604020202020204" charset="-79"/>
              <a:cs typeface="Assistant" panose="020B0604020202020204" charset="-79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 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Professional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background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 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Skills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and expertise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 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Technical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capabilities</a:t>
            </a:r>
            <a:endParaRPr lang="en-US" sz="2000" dirty="0">
              <a:latin typeface="Assistant" panose="020B0604020202020204" charset="-79"/>
              <a:cs typeface="Assistant" panose="020B0604020202020204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38844" y="775872"/>
            <a:ext cx="286295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Projects </a:t>
            </a:r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Section</a:t>
            </a:r>
            <a:endParaRPr lang="en-GB" sz="2000" dirty="0" smtClean="0">
              <a:latin typeface="Assistant" panose="020B0604020202020204" charset="-79"/>
              <a:cs typeface="Assistant" panose="020B0604020202020204" charset="-79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Six projects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Project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images and descriptions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GitHub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repository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links</a:t>
            </a:r>
            <a:endParaRPr lang="en-GB" sz="2000" dirty="0">
              <a:latin typeface="Assistant" panose="020B0604020202020204" charset="-79"/>
              <a:cs typeface="Assistant" panose="020B0604020202020204" charset="-79"/>
            </a:endParaRPr>
          </a:p>
          <a:p>
            <a:endParaRPr lang="en-GB" sz="2000" b="1" dirty="0" smtClean="0">
              <a:solidFill>
                <a:schemeClr val="accent1"/>
              </a:solidFill>
              <a:latin typeface="Assistant" panose="020B0604020202020204" charset="-79"/>
              <a:cs typeface="Assistant" panose="020B0604020202020204" charset="-79"/>
            </a:endParaRPr>
          </a:p>
          <a:p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Contact </a:t>
            </a:r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Section</a:t>
            </a:r>
            <a:endParaRPr lang="en-GB" sz="2000" dirty="0">
              <a:latin typeface="Assistant" panose="020B0604020202020204" charset="-79"/>
              <a:cs typeface="Assistant" panose="020B0604020202020204" charset="-79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Email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functionality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Social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media links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Professional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closing</a:t>
            </a:r>
            <a:endParaRPr lang="en-US" sz="2000" dirty="0">
              <a:latin typeface="Assistant" panose="020B0604020202020204" charset="-79"/>
              <a:cs typeface="Assistant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0169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259414" y="48693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>
              <a:buSzPct val="100000"/>
            </a:pPr>
            <a:fld id="{00000000-1234-1234-1234-123412341234}" type="slidenum">
              <a:rPr lang="en" smtClean="0">
                <a:solidFill>
                  <a:srgbClr val="5D5D5D"/>
                </a:solidFill>
              </a:rPr>
              <a:pPr>
                <a:buSzPct val="100000"/>
              </a:pPr>
              <a:t>7</a:t>
            </a:fld>
            <a:r>
              <a:rPr lang="en" dirty="0" smtClean="0">
                <a:solidFill>
                  <a:srgbClr val="5D5D5D"/>
                </a:solidFill>
              </a:rPr>
              <a:t>-16</a:t>
            </a:r>
            <a:endParaRPr dirty="0">
              <a:solidFill>
                <a:srgbClr val="5D5D5D"/>
              </a:solidFill>
            </a:endParaRPr>
          </a:p>
        </p:txBody>
      </p:sp>
      <p:sp>
        <p:nvSpPr>
          <p:cNvPr id="982" name="Google Shape;982;p154"/>
          <p:cNvSpPr txBox="1"/>
          <p:nvPr/>
        </p:nvSpPr>
        <p:spPr>
          <a:xfrm>
            <a:off x="373386" y="203172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algn="ctr">
              <a:buSzPts val="2900"/>
            </a:pPr>
            <a:r>
              <a:rPr lang="en-US" sz="29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Project Achievements</a:t>
            </a:r>
            <a:endParaRPr sz="2900" b="1" dirty="0">
              <a:solidFill>
                <a:srgbClr val="58ADC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9072" y="775872"/>
            <a:ext cx="364707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Technical Achievements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Pure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HTML/CSS implementation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Fully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responsive </a:t>
            </a: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design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Professional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visual design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Accessible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and SEO-friendly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Cross-browser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compatible</a:t>
            </a:r>
          </a:p>
          <a:p>
            <a:endParaRPr lang="en-GB" sz="1800" dirty="0">
              <a:latin typeface="Assistant" panose="020B0604020202020204" charset="-79"/>
              <a:cs typeface="Assistant" panose="020B0604020202020204" charset="-79"/>
            </a:endParaRPr>
          </a:p>
          <a:p>
            <a:r>
              <a:rPr lang="en-GB" sz="1800" b="1" dirty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LEARNING </a:t>
            </a:r>
            <a:r>
              <a:rPr lang="en-GB" sz="18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OUTCOMES</a:t>
            </a:r>
            <a:endParaRPr lang="en-GB" sz="1800" b="1" dirty="0">
              <a:solidFill>
                <a:schemeClr val="accent1"/>
              </a:solidFill>
              <a:latin typeface="Assistant" panose="020B0604020202020204" charset="-79"/>
              <a:cs typeface="Assistant" panose="020B0604020202020204" charset="-79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HTML5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semantic structure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CSS3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layout techniques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Responsive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design principles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Project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organization skills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Web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development </a:t>
            </a: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workflow</a:t>
            </a:r>
            <a:endParaRPr lang="en-GB" sz="1800" dirty="0" smtClean="0">
              <a:latin typeface="Assistant" panose="020B0604020202020204" charset="-79"/>
              <a:cs typeface="Assistant" panose="020B0604020202020204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38844" y="775872"/>
            <a:ext cx="28629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Business Value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Professional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online presence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Project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showcase platform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Contact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generation tool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dirty="0" smtClean="0">
                <a:latin typeface="Assistant" panose="020B0604020202020204" charset="-79"/>
                <a:cs typeface="Assistant" panose="020B0604020202020204" charset="-79"/>
              </a:rPr>
              <a:t>Personal </a:t>
            </a:r>
            <a:r>
              <a:rPr lang="en-GB" sz="1800" dirty="0">
                <a:latin typeface="Assistant" panose="020B0604020202020204" charset="-79"/>
                <a:cs typeface="Assistant" panose="020B0604020202020204" charset="-79"/>
              </a:rPr>
              <a:t>branding asset</a:t>
            </a:r>
            <a:endParaRPr lang="en-GB" sz="1800" b="1" dirty="0" smtClean="0">
              <a:solidFill>
                <a:schemeClr val="accent1"/>
              </a:solidFill>
              <a:latin typeface="Assistant" panose="020B0604020202020204" charset="-79"/>
              <a:cs typeface="Assistant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5194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259414" y="48693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>
              <a:buSzPct val="100000"/>
            </a:pPr>
            <a:fld id="{00000000-1234-1234-1234-123412341234}" type="slidenum">
              <a:rPr lang="en" smtClean="0">
                <a:solidFill>
                  <a:srgbClr val="5D5D5D"/>
                </a:solidFill>
              </a:rPr>
              <a:pPr>
                <a:buSzPct val="100000"/>
              </a:pPr>
              <a:t>8</a:t>
            </a:fld>
            <a:r>
              <a:rPr lang="en" dirty="0" smtClean="0">
                <a:solidFill>
                  <a:srgbClr val="5D5D5D"/>
                </a:solidFill>
              </a:rPr>
              <a:t>-16</a:t>
            </a:r>
            <a:endParaRPr dirty="0">
              <a:solidFill>
                <a:srgbClr val="5D5D5D"/>
              </a:solidFill>
            </a:endParaRPr>
          </a:p>
        </p:txBody>
      </p:sp>
      <p:sp>
        <p:nvSpPr>
          <p:cNvPr id="982" name="Google Shape;982;p154"/>
          <p:cNvSpPr txBox="1"/>
          <p:nvPr/>
        </p:nvSpPr>
        <p:spPr>
          <a:xfrm>
            <a:off x="311700" y="155523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algn="ctr">
              <a:buSzPts val="2900"/>
            </a:pPr>
            <a:r>
              <a:rPr lang="en-US" sz="29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Project Summary &amp; Conclusion</a:t>
            </a:r>
            <a:endParaRPr lang="en-US" sz="2900" b="1" dirty="0">
              <a:solidFill>
                <a:srgbClr val="58ADC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1700" y="775872"/>
            <a:ext cx="364707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Key Takeaways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Successfully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built working website using only HTML/CSS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Implemented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responsive design for all devices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Created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professional portfolio showcase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Demonstrated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web development fundamentals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Provided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fully functional live demo</a:t>
            </a:r>
            <a:endParaRPr lang="en-US" sz="2000" dirty="0">
              <a:latin typeface="Assistant" panose="020B0604020202020204" charset="-79"/>
              <a:cs typeface="Assistant" panose="020B0604020202020204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71571" y="775872"/>
            <a:ext cx="361042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Technical Skills </a:t>
            </a:r>
            <a:r>
              <a:rPr lang="en-GB" sz="2000" b="1" dirty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D</a:t>
            </a:r>
            <a:r>
              <a:rPr lang="en-GB" sz="2000" b="1" dirty="0" smtClean="0">
                <a:solidFill>
                  <a:schemeClr val="accent1"/>
                </a:solidFill>
                <a:latin typeface="Assistant" panose="020B0604020202020204" charset="-79"/>
                <a:cs typeface="Assistant" panose="020B0604020202020204" charset="-79"/>
              </a:rPr>
              <a:t>emonstrated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HTML5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semantic </a:t>
            </a: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mark-up</a:t>
            </a:r>
            <a:endParaRPr lang="en-GB" sz="2000" dirty="0">
              <a:latin typeface="Assistant" panose="020B0604020202020204" charset="-79"/>
              <a:cs typeface="Assistant" panose="020B0604020202020204" charset="-79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CSS3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styling and layout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Responsive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design principles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Project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planning and execution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 smtClean="0">
                <a:latin typeface="Assistant" panose="020B0604020202020204" charset="-79"/>
                <a:cs typeface="Assistant" panose="020B0604020202020204" charset="-79"/>
              </a:rPr>
              <a:t>Problem-solving </a:t>
            </a:r>
            <a:r>
              <a:rPr lang="en-GB" sz="2000" dirty="0">
                <a:latin typeface="Assistant" panose="020B0604020202020204" charset="-79"/>
                <a:cs typeface="Assistant" panose="020B0604020202020204" charset="-79"/>
              </a:rPr>
              <a:t>and debugging</a:t>
            </a:r>
            <a:endParaRPr lang="en-US" sz="2000" dirty="0">
              <a:latin typeface="Assistant" panose="020B0604020202020204" charset="-79"/>
              <a:cs typeface="Assistant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3577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660" name="Google Shape;660;p62"/>
          <p:cNvSpPr txBox="1">
            <a:spLocks noGrp="1"/>
          </p:cNvSpPr>
          <p:nvPr>
            <p:ph type="body" idx="4294967295"/>
          </p:nvPr>
        </p:nvSpPr>
        <p:spPr>
          <a:xfrm>
            <a:off x="1596900" y="2586975"/>
            <a:ext cx="5767500" cy="14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accent1"/>
                </a:solidFill>
              </a:rPr>
              <a:t>Contact</a:t>
            </a:r>
            <a:endParaRPr sz="1700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 dirty="0" smtClean="0"/>
              <a:t>Albert Raphael Assimagbe</a:t>
            </a:r>
            <a:r>
              <a:rPr lang="en" sz="1400" dirty="0"/>
              <a:t/>
            </a:r>
            <a:br>
              <a:rPr lang="en" sz="1400" dirty="0"/>
            </a:br>
            <a:r>
              <a:rPr lang="en" sz="1400" dirty="0" smtClean="0"/>
              <a:t>Studen tReDI </a:t>
            </a:r>
            <a:r>
              <a:rPr lang="en" sz="1400" dirty="0"/>
              <a:t>School of Digital Integration NRW</a:t>
            </a:r>
            <a:endParaRPr sz="1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 u="sng" dirty="0" smtClean="0">
                <a:solidFill>
                  <a:schemeClr val="hlink"/>
                </a:solidFill>
              </a:rPr>
              <a:t>albertraphael96</a:t>
            </a:r>
            <a:r>
              <a:rPr lang="en" sz="1400" u="sng" dirty="0" smtClean="0">
                <a:solidFill>
                  <a:schemeClr val="hlink"/>
                </a:solidFill>
              </a:rPr>
              <a:t>@gmail.com</a:t>
            </a:r>
            <a:endParaRPr sz="1400" dirty="0"/>
          </a:p>
        </p:txBody>
      </p:sp>
      <p:pic>
        <p:nvPicPr>
          <p:cNvPr id="661" name="Google Shape;661;p6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50" y="2586975"/>
            <a:ext cx="914400" cy="9144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2" name="Google Shape;662;p6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 a lot!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400</Words>
  <Application>Microsoft Office PowerPoint</Application>
  <PresentationFormat>On-screen Show (16:9)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Assistant</vt:lpstr>
      <vt:lpstr>Proxima Nova</vt:lpstr>
      <vt:lpstr>Arial</vt:lpstr>
      <vt:lpstr>Wingdings</vt:lpstr>
      <vt:lpstr>Simple Light</vt:lpstr>
      <vt:lpstr>1_Simple Light</vt:lpstr>
      <vt:lpstr> Internal Demo Day: HTML/CSS</vt:lpstr>
      <vt:lpstr> PORTFOLIO WEBSITE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a lot!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Demo Day: HTML/CSS</dc:title>
  <dc:creator>Albert Raphael Assimagbe</dc:creator>
  <cp:lastModifiedBy>Albert Raphael Assimagbe</cp:lastModifiedBy>
  <cp:revision>17</cp:revision>
  <dcterms:modified xsi:type="dcterms:W3CDTF">2025-11-19T11:15:21Z</dcterms:modified>
</cp:coreProperties>
</file>